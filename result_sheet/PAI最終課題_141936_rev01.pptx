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61" r:id="rId4"/>
    <p:sldId id="262" r:id="rId5"/>
    <p:sldId id="263" r:id="rId6"/>
    <p:sldId id="264" r:id="rId7"/>
    <p:sldId id="273" r:id="rId8"/>
    <p:sldId id="265" r:id="rId9"/>
    <p:sldId id="271" r:id="rId10"/>
    <p:sldId id="274" r:id="rId11"/>
    <p:sldId id="266" r:id="rId12"/>
    <p:sldId id="276" r:id="rId13"/>
    <p:sldId id="267" r:id="rId14"/>
    <p:sldId id="277" r:id="rId15"/>
    <p:sldId id="268" r:id="rId16"/>
    <p:sldId id="269" r:id="rId17"/>
    <p:sldId id="270" r:id="rId18"/>
    <p:sldId id="272" r:id="rId19"/>
    <p:sldId id="278" r:id="rId20"/>
    <p:sldId id="27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C8DDD-25D4-4123-8472-F5FE4B04BD2D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1DCF78-D58C-47EF-9073-AF8831BAF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74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DCF78-D58C-47EF-9073-AF8831BAFEC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19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A60DFA-1ACF-946E-7252-E8A6DFD76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D1EEC67-1FE8-3D4E-2830-DA893C877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B77962-2363-4245-0E0C-4489A1A5E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9B3D39-BBE6-DEAD-56D0-816BACB4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737855-99A8-5661-C5DF-D6B90E9E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008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C5C8D5-A817-0B11-0F12-10824A13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EC71E9-D625-0469-A2BC-93C02F0B2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8094F9-3BD3-07E8-9084-46D20F4D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E49F03-F2FA-543A-4201-755E664F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E92CEC-41FF-398B-2762-DC84B22DF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15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25FEB2-B01D-16C8-9C6F-51BDD6CC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941E67-3C20-A093-BD5E-1D6D46961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24C6D6-93C4-011B-0C29-840B00256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BC9D5E-0C9B-9464-9804-9330FAB9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474E2C-CB88-4B7C-D847-50F6966D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487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5C4EAE-C003-A39B-AFC9-0A4B16909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CA852B-690B-F07E-4281-D1D0AB2C8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8C2208-16C5-3FA4-0B6F-B5D809EA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C613F4-05AB-31A0-8D35-39ED75B6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428670-3FBE-FAFF-1C88-C0F1ED28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AB9A28-A3E7-1B12-D64D-0D806029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04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5164B9-5D0B-A898-8A06-A39BC016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46A231-7AAF-22A7-D85C-D35985319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179517-0C91-DB06-6FCD-D946D6B0A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2264E7-80BC-ECA6-054C-C2A7922FC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CC6A61-57BA-0ABF-9564-4A715A477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012D2E-F95D-BBCC-5800-D29D3A8E5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3852327-209F-4398-CC82-27AA6A30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3B4FF40-D3DB-2562-B0D7-1B05B37B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728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08AEA8-8971-437D-44A8-7F7672DF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A959F90-10EA-B90A-59DA-672EA652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0D3E3E0-EADA-03CC-CF40-CAFBA168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CD05A9-434F-368D-5221-F8C4CF6D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6801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AA159C8-E243-3D26-938A-56F81D0A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3D91EC-8F81-71C0-EA46-AC9608F00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88CC64-BE01-FAE1-CC64-47906BBF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984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5B6CE1-5B2B-FB3B-30AE-565769F9E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1B6426-E161-C614-E72A-F0AF1306D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169168-D5E3-AD17-E3C5-7AD0E6B6C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91FA86-5B3C-18F8-8CD9-014EEB2F8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A49FA0-E9BF-6FE3-7683-D321EA45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964815-C594-BAC2-CDA8-098E40CD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342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B9C9FB-DB4E-AA58-1BE2-50A184EF4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9EC42B5-7E4C-F723-B586-015123383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D7CAB0-790E-AEC5-C503-7F425D465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57666F-F5CD-AA16-5244-4BEB0B56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A5E051-F84F-495A-3B74-CD1C7E5F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532093-5594-87D7-CD98-8607EDC0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957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DFFA38-C1BE-D5F6-3C2A-07A2AFA8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1AA2EF-FBBC-1B97-2B6D-8BFB9422B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52C533-15DF-6BE2-3769-83C7FBB41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141218-8E5C-7B8F-64B1-937B10E8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3B4941-CA60-EEE7-60AD-D508AF0F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06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04CBEA8-B575-C11F-3505-E76AB9F65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8BCC1F-F178-4A1C-D561-9ACD60BFB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7170C6-6C3B-7088-6BB8-C837425E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105E19-4146-CBC7-B34C-A73FD1B7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7B0258-B402-A836-A6F9-B8EEA498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566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F25B79-741F-E113-E957-FF3E69A1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35271C-4EDC-2122-9DF3-368F371A4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C56427-5913-9B08-B6F8-5BC6AFC02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148A4-11D7-4443-AC13-B5671BE14D24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DDB723-A934-4CFF-8FE6-3AE193FCD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E856EE-F9FE-4D6B-341C-1E939CEBD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540C2-1BF8-4138-A3E9-8BCBA2F5B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72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4C828-F86F-CCB9-6E4E-8BD450DDF593}"/>
              </a:ext>
            </a:extLst>
          </p:cNvPr>
          <p:cNvSpPr txBox="1"/>
          <p:nvPr/>
        </p:nvSpPr>
        <p:spPr>
          <a:xfrm>
            <a:off x="597877" y="2474819"/>
            <a:ext cx="98649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Push-T</a:t>
            </a:r>
            <a:r>
              <a:rPr kumimoji="1"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で</a:t>
            </a:r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学ぶ</a:t>
            </a:r>
            <a:r>
              <a:rPr lang="en-US" altLang="ja-JP" sz="4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RoboOps</a:t>
            </a:r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を元ににした</a:t>
            </a:r>
            <a:endParaRPr lang="en-US" altLang="ja-JP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Push-T</a:t>
            </a:r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学習への寄与検証</a:t>
            </a:r>
            <a:r>
              <a:rPr lang="en-US" altLang="ja-JP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動画編</a:t>
            </a:r>
            <a:r>
              <a:rPr lang="en-US" altLang="ja-JP" sz="4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DDC475-00E3-B12E-B6D7-BB29C29D029E}"/>
              </a:ext>
            </a:extLst>
          </p:cNvPr>
          <p:cNvSpPr txBox="1"/>
          <p:nvPr/>
        </p:nvSpPr>
        <p:spPr>
          <a:xfrm>
            <a:off x="254976" y="461518"/>
            <a:ext cx="5275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PhysicalAI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応用講座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最終課題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29D76DA-2DA9-DC11-B78F-E7DED142C784}"/>
              </a:ext>
            </a:extLst>
          </p:cNvPr>
          <p:cNvSpPr txBox="1"/>
          <p:nvPr/>
        </p:nvSpPr>
        <p:spPr>
          <a:xfrm>
            <a:off x="8698523" y="6154615"/>
            <a:ext cx="3528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受講生アカウント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ID:141936</a:t>
            </a:r>
          </a:p>
        </p:txBody>
      </p:sp>
    </p:spTree>
    <p:extLst>
      <p:ext uri="{BB962C8B-B14F-4D97-AF65-F5344CB8AC3E}">
        <p14:creationId xmlns:p14="http://schemas.microsoft.com/office/powerpoint/2010/main" val="344534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3EAF84-3FAD-8DD8-EAEB-88D12200C0D2}"/>
              </a:ext>
            </a:extLst>
          </p:cNvPr>
          <p:cNvSpPr txBox="1"/>
          <p:nvPr/>
        </p:nvSpPr>
        <p:spPr>
          <a:xfrm>
            <a:off x="594325" y="699042"/>
            <a:ext cx="9864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Push-T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学ぶ</a:t>
            </a:r>
            <a:r>
              <a:rPr lang="en-US" altLang="ja-JP" sz="2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RoboOps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では講座時間の関係で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学習の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数は時間に収まる範囲になっている。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5EF63C-6A38-F23E-CA51-D85C522FA0D2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0BB871-2E19-D5D3-5014-B945F9FB564D}"/>
              </a:ext>
            </a:extLst>
          </p:cNvPr>
          <p:cNvSpPr txBox="1"/>
          <p:nvPr/>
        </p:nvSpPr>
        <p:spPr>
          <a:xfrm>
            <a:off x="5052025" y="2196301"/>
            <a:ext cx="654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そのため、どうしても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Reward/Success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数値は低くなると思われた。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4540531-50D6-CC40-5715-07FE809275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1925"/>
          <a:stretch>
            <a:fillRect/>
          </a:stretch>
        </p:blipFill>
        <p:spPr>
          <a:xfrm>
            <a:off x="594325" y="1540206"/>
            <a:ext cx="11499144" cy="523220"/>
          </a:xfrm>
          <a:prstGeom prst="rect">
            <a:avLst/>
          </a:prstGeom>
        </p:spPr>
      </p:pic>
      <p:pic>
        <p:nvPicPr>
          <p:cNvPr id="5" name="rollout-lerobot-act(BaseLine)">
            <a:hlinkClick r:id="" action="ppaction://media"/>
            <a:extLst>
              <a:ext uri="{FF2B5EF4-FFF2-40B4-BE49-F238E27FC236}">
                <a16:creationId xmlns:a16="http://schemas.microsoft.com/office/drawing/2014/main" id="{318697A0-9097-28BA-2603-AC9FB065362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4325" y="2427134"/>
            <a:ext cx="4065598" cy="406559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D555420-5033-569C-D42E-DEA3BE75F50A}"/>
              </a:ext>
            </a:extLst>
          </p:cNvPr>
          <p:cNvSpPr txBox="1"/>
          <p:nvPr/>
        </p:nvSpPr>
        <p:spPr>
          <a:xfrm>
            <a:off x="5052025" y="4794574"/>
            <a:ext cx="7139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時間の制約できなかった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数などを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変更することでや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Reward/Success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の数値が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向上するのではと思い、検討を始めた。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41B8C9-5EA7-91C6-7EFF-2C3E2E01751E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はじめに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61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01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3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DDB1-8843-E195-A8F4-34EBFBD42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1DF48F-F692-37E2-726C-62050B442CF9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１．　学習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数の増減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DE29795-FB59-007F-C6BC-945D136753C4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093C96-1EF4-0F9A-90FB-EECB0919EAF3}"/>
              </a:ext>
            </a:extLst>
          </p:cNvPr>
          <p:cNvSpPr txBox="1"/>
          <p:nvPr/>
        </p:nvSpPr>
        <p:spPr>
          <a:xfrm>
            <a:off x="1020826" y="709248"/>
            <a:ext cx="88384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一番簡単に変更を行うことができる学習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当然時間がかかるが授業ではないので時間制限なく試せる。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増やした場合、減らした場合双方を検証した。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4799C46-97DD-5E75-C585-0C6F17FA7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-1" r="82710" b="57249"/>
          <a:stretch>
            <a:fillRect/>
          </a:stretch>
        </p:blipFill>
        <p:spPr>
          <a:xfrm>
            <a:off x="3616292" y="3042194"/>
            <a:ext cx="3331064" cy="207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18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933C-52A7-DDBD-4D6C-F447DECA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63B923-9D42-B397-D673-6A3313E20233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１．学習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数の増減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F50C5D-E3C9-9522-68CC-16E9919FF8A9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534413-D36E-EA1F-7AA8-F1F4E116E2F3}"/>
              </a:ext>
            </a:extLst>
          </p:cNvPr>
          <p:cNvSpPr txBox="1"/>
          <p:nvPr/>
        </p:nvSpPr>
        <p:spPr>
          <a:xfrm>
            <a:off x="1020825" y="709248"/>
            <a:ext cx="110773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結果として、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数を下げると、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Reward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が減少し、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増やすと増加するのだが。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の場合の増加と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60→120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とした場合の増加では、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120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まで増やしても増加率は減少し、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程度が増加した学習時間に対する効果としては良いと考える。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CED90A-9ADD-5ABD-04C4-4795A1DECBDD}"/>
              </a:ext>
            </a:extLst>
          </p:cNvPr>
          <p:cNvSpPr txBox="1"/>
          <p:nvPr/>
        </p:nvSpPr>
        <p:spPr>
          <a:xfrm>
            <a:off x="3328772" y="6327260"/>
            <a:ext cx="8896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また各ケース複数回試しても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Reward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などの結果は大きく変動しないことも分かった。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FA17F27-395B-9089-9D79-C17FD66B2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7249"/>
          <a:stretch>
            <a:fillRect/>
          </a:stretch>
        </p:blipFill>
        <p:spPr>
          <a:xfrm>
            <a:off x="346428" y="3768280"/>
            <a:ext cx="11499144" cy="123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9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D310D-8F45-68E4-B02F-0DE836523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663B51-EEA6-AC60-D3B5-70AB108B75C8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１．学習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数の増減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9B0951-3CB2-7494-EFD6-E052D72CE4B6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243828-CD81-CE7A-E7B6-AD7CC16AAC4C}"/>
              </a:ext>
            </a:extLst>
          </p:cNvPr>
          <p:cNvSpPr txBox="1"/>
          <p:nvPr/>
        </p:nvSpPr>
        <p:spPr>
          <a:xfrm>
            <a:off x="606311" y="592853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Baseline 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での学習結果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rollout-lerobot-act(case1)">
            <a:hlinkClick r:id="" action="ppaction://media"/>
            <a:extLst>
              <a:ext uri="{FF2B5EF4-FFF2-40B4-BE49-F238E27FC236}">
                <a16:creationId xmlns:a16="http://schemas.microsoft.com/office/drawing/2014/main" id="{4CB11663-7431-11C5-F861-D627219384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9032" y="1324349"/>
            <a:ext cx="4940798" cy="494079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EF453E-05A3-3D1F-5F8F-A12C6AFA8858}"/>
              </a:ext>
            </a:extLst>
          </p:cNvPr>
          <p:cNvSpPr txBox="1"/>
          <p:nvPr/>
        </p:nvSpPr>
        <p:spPr>
          <a:xfrm>
            <a:off x="6096001" y="1564029"/>
            <a:ext cx="545709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動画は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最良のものを表示）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MEAN REWARD = 0.282</a:t>
            </a:r>
          </a:p>
        </p:txBody>
      </p:sp>
    </p:spTree>
    <p:extLst>
      <p:ext uri="{BB962C8B-B14F-4D97-AF65-F5344CB8AC3E}">
        <p14:creationId xmlns:p14="http://schemas.microsoft.com/office/powerpoint/2010/main" val="167546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01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A822-A3D8-F9EE-AC33-A7703D67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22AE5C4-7144-BFAF-C1BD-470415627612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１．学習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数の増減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7324E0-8665-DCBF-1FBD-BC5A5CE477DB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3C9014-D24D-8812-7278-4DC3CF3165EF}"/>
              </a:ext>
            </a:extLst>
          </p:cNvPr>
          <p:cNvSpPr txBox="1"/>
          <p:nvPr/>
        </p:nvSpPr>
        <p:spPr>
          <a:xfrm>
            <a:off x="606311" y="592853"/>
            <a:ext cx="11341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Baseline 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での学習結果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rollout-lerobot-act(case2)">
            <a:hlinkClick r:id="" action="ppaction://media"/>
            <a:extLst>
              <a:ext uri="{FF2B5EF4-FFF2-40B4-BE49-F238E27FC236}">
                <a16:creationId xmlns:a16="http://schemas.microsoft.com/office/drawing/2014/main" id="{D2249729-7B08-C884-974E-978B4166BEA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6311" y="1578296"/>
            <a:ext cx="4866787" cy="486678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C17E501-9D24-1F02-A075-5F1B0B566D76}"/>
              </a:ext>
            </a:extLst>
          </p:cNvPr>
          <p:cNvSpPr txBox="1"/>
          <p:nvPr/>
        </p:nvSpPr>
        <p:spPr>
          <a:xfrm>
            <a:off x="6096001" y="1564029"/>
            <a:ext cx="545709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動画は成功事例のものを表示）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MEAN REWARD = 0.686</a:t>
            </a: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Training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Time  = 1210.1 sec</a:t>
            </a: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(3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回の試行の平均値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039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8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F5614-B0F0-58F4-EAEF-86CA4B5BA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219C646-F63B-A62E-A6C1-1F0AFF2CC920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１．学習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数の増減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39C7407-CBC7-EB94-F4DE-B4D135579274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113835-00BA-3725-1E25-B2D24AAA6817}"/>
              </a:ext>
            </a:extLst>
          </p:cNvPr>
          <p:cNvSpPr txBox="1"/>
          <p:nvPr/>
        </p:nvSpPr>
        <p:spPr>
          <a:xfrm>
            <a:off x="606311" y="592853"/>
            <a:ext cx="11341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Baseline 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120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での学習結果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rollout-lerobot-act(case3)">
            <a:hlinkClick r:id="" action="ppaction://media"/>
            <a:extLst>
              <a:ext uri="{FF2B5EF4-FFF2-40B4-BE49-F238E27FC236}">
                <a16:creationId xmlns:a16="http://schemas.microsoft.com/office/drawing/2014/main" id="{F46E8C25-01CD-1EE6-D096-E6DC6D5900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6311" y="1578296"/>
            <a:ext cx="4866786" cy="486678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88A08F-8C7B-2F6D-F03B-C478691D9EDD}"/>
              </a:ext>
            </a:extLst>
          </p:cNvPr>
          <p:cNvSpPr txBox="1"/>
          <p:nvPr/>
        </p:nvSpPr>
        <p:spPr>
          <a:xfrm>
            <a:off x="6096001" y="1564029"/>
            <a:ext cx="545709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動画は成功事例のものを表示）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MEAN REWARD = 0.686</a:t>
            </a: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Training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Time  = 2517.1 sec</a:t>
            </a: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(3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回の試行の平均値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56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04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A52FC-9E06-1E17-B7C6-84CE72BA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FA953C-1479-0530-8DF2-91B19D2A4D1A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２．データセットの品質チェック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4FB2B7-53CF-A043-BE22-43F3878F2137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16437A-D1BE-888D-E8BE-B7A199057008}"/>
              </a:ext>
            </a:extLst>
          </p:cNvPr>
          <p:cNvSpPr txBox="1"/>
          <p:nvPr/>
        </p:nvSpPr>
        <p:spPr>
          <a:xfrm>
            <a:off x="897734" y="4376449"/>
            <a:ext cx="111711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本来は該当するものでもデータとしての品質の良いものもあるのでチェックの上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本当に問題のあるデータのみ除外するべきだが予備的に行った除外作業で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判定基準に熟知していないためか効果がうまく出ず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今回は単純に各条件単体の効果の有無の見るため、単純な除外とした。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83A768-FA46-9D4F-4BC2-91CDE757B10C}"/>
              </a:ext>
            </a:extLst>
          </p:cNvPr>
          <p:cNvSpPr txBox="1"/>
          <p:nvPr/>
        </p:nvSpPr>
        <p:spPr>
          <a:xfrm>
            <a:off x="1173226" y="861648"/>
            <a:ext cx="111711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次に今回使ったデータセット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en-US" altLang="ja-JP" sz="28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lerobot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en-US" altLang="ja-JP" sz="28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pusht_keypoints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 206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ケース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授業では壊れているものだけをチェックしたが、追加で以下の条件で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チェック、該当するものを除外して効果を見た。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F4915DF-15C9-8F12-0339-685B7443E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64" y="2384337"/>
            <a:ext cx="11936544" cy="170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0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C3205C-62FF-C12D-3512-727C30AB0B6E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２．データセットの品質チェック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134761-DF8D-6FCC-369D-B153833416CD}"/>
              </a:ext>
            </a:extLst>
          </p:cNvPr>
          <p:cNvSpPr txBox="1"/>
          <p:nvPr/>
        </p:nvSpPr>
        <p:spPr>
          <a:xfrm>
            <a:off x="1173226" y="861648"/>
            <a:ext cx="107954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結果としては以下の通り、単体の効果としては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MIN EPISODE LENGTH</a:t>
            </a: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MAX STATIONARY RATIO 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を使った事例で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Baseline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と比較して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結果の向上が見られた、その他は結果の悪化もしくは同等の結果だった。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FEC991D-5E37-D554-CCB6-A05B048644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24597"/>
          <a:stretch>
            <a:fillRect/>
          </a:stretch>
        </p:blipFill>
        <p:spPr>
          <a:xfrm>
            <a:off x="297897" y="2994979"/>
            <a:ext cx="11766894" cy="28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4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E3C8D85-E59B-F4C8-A266-652AC593728C}"/>
              </a:ext>
            </a:extLst>
          </p:cNvPr>
          <p:cNvSpPr txBox="1"/>
          <p:nvPr/>
        </p:nvSpPr>
        <p:spPr>
          <a:xfrm>
            <a:off x="862330" y="653850"/>
            <a:ext cx="11171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また不良データを除外し、単純に後工程を行ったため、データ数が減ったことによるためか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数の変更では、結果は何度行っても安定していたが、実施の度に変動することが分かった。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本来は学習前のデータの処理などで安定するようにするべきだが今回は単純に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回実施し平均値を算定した。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83BF82-6491-C925-534C-52F816240265}"/>
              </a:ext>
            </a:extLst>
          </p:cNvPr>
          <p:cNvSpPr txBox="1"/>
          <p:nvPr/>
        </p:nvSpPr>
        <p:spPr>
          <a:xfrm>
            <a:off x="0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２．データセットの品質チェック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FCDA568-23E7-4747-4B1F-D5798ECAE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352" y="1669513"/>
            <a:ext cx="9278112" cy="511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8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6C7A1-8042-CDE6-0960-152D28BE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F7262A-D433-1FCA-B36C-8F9E547E583F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AE842B-3C0E-7EB8-A56A-08D57B0171A3}"/>
              </a:ext>
            </a:extLst>
          </p:cNvPr>
          <p:cNvSpPr txBox="1"/>
          <p:nvPr/>
        </p:nvSpPr>
        <p:spPr>
          <a:xfrm>
            <a:off x="764580" y="476489"/>
            <a:ext cx="11341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ケース４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 = 0.85 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以下を除外したもの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38EE3D-CE88-2A0F-5A39-D6578F09B366}"/>
              </a:ext>
            </a:extLst>
          </p:cNvPr>
          <p:cNvSpPr txBox="1"/>
          <p:nvPr/>
        </p:nvSpPr>
        <p:spPr>
          <a:xfrm>
            <a:off x="0" y="24769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２．データセットの品質チェック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CC35BF2-8094-9B18-397D-8B3029EB1FB2}"/>
              </a:ext>
            </a:extLst>
          </p:cNvPr>
          <p:cNvSpPr txBox="1"/>
          <p:nvPr/>
        </p:nvSpPr>
        <p:spPr>
          <a:xfrm>
            <a:off x="6096001" y="1564029"/>
            <a:ext cx="5457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画像は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最良のものを表示）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MEAN REWARD = 0.390</a:t>
            </a:r>
          </a:p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(3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回の学習結果の平均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0.383/0.455/0.333)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E6E2CA6-8ED7-988C-EB6D-E159096D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61" y="1580989"/>
            <a:ext cx="4717035" cy="471703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4314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C7C9-834E-9AFF-B93E-A6E23889E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63272F-5DDF-8B87-B42A-5B5974BA31FD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84A3BE-18BE-9677-C1CE-43038A8726E0}"/>
              </a:ext>
            </a:extLst>
          </p:cNvPr>
          <p:cNvSpPr txBox="1"/>
          <p:nvPr/>
        </p:nvSpPr>
        <p:spPr>
          <a:xfrm>
            <a:off x="849923" y="463025"/>
            <a:ext cx="11341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ケース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MIN EPISODE LENGTH = 50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以下を除外したもの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36FDE2-CAC7-421C-FED2-6AC128E67EA1}"/>
              </a:ext>
            </a:extLst>
          </p:cNvPr>
          <p:cNvSpPr txBox="1"/>
          <p:nvPr/>
        </p:nvSpPr>
        <p:spPr>
          <a:xfrm>
            <a:off x="0" y="24769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２．データセットの品質チェック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" name="rollout-lerobot-act(case5)">
            <a:hlinkClick r:id="" action="ppaction://media"/>
            <a:extLst>
              <a:ext uri="{FF2B5EF4-FFF2-40B4-BE49-F238E27FC236}">
                <a16:creationId xmlns:a16="http://schemas.microsoft.com/office/drawing/2014/main" id="{00063FB2-4C74-BADC-9AF8-DAF8B769466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9923" y="1432940"/>
            <a:ext cx="4724019" cy="472401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6B2DAA2-66ED-9E49-5579-BAF1A8BE4DA4}"/>
              </a:ext>
            </a:extLst>
          </p:cNvPr>
          <p:cNvSpPr txBox="1"/>
          <p:nvPr/>
        </p:nvSpPr>
        <p:spPr>
          <a:xfrm>
            <a:off x="6096001" y="1564029"/>
            <a:ext cx="54570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動画は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最良のものを表示）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MEAN REWARD = 0.503</a:t>
            </a:r>
          </a:p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(3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回の学習結果の平均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0.474/0.465/0.569)</a:t>
            </a:r>
          </a:p>
        </p:txBody>
      </p:sp>
    </p:spTree>
    <p:extLst>
      <p:ext uri="{BB962C8B-B14F-4D97-AF65-F5344CB8AC3E}">
        <p14:creationId xmlns:p14="http://schemas.microsoft.com/office/powerpoint/2010/main" val="236147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0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ACC54-82DB-0ABC-149E-0DC25402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3E0508-2123-9904-687C-AEAA848035FF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1E85B9-197E-EC81-6E4A-095026DDAD08}"/>
              </a:ext>
            </a:extLst>
          </p:cNvPr>
          <p:cNvSpPr txBox="1"/>
          <p:nvPr/>
        </p:nvSpPr>
        <p:spPr>
          <a:xfrm>
            <a:off x="0" y="24769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２．データセットの品質チェック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3D16EE-C4B4-89E5-79AC-7B3DB973B180}"/>
              </a:ext>
            </a:extLst>
          </p:cNvPr>
          <p:cNvSpPr txBox="1"/>
          <p:nvPr/>
        </p:nvSpPr>
        <p:spPr>
          <a:xfrm>
            <a:off x="849923" y="463025"/>
            <a:ext cx="11341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ケース６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MAX ACTION STEP = 80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以下を除外したもの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0E4563-D68B-2E43-92A9-76A5A3160BB0}"/>
              </a:ext>
            </a:extLst>
          </p:cNvPr>
          <p:cNvSpPr txBox="1"/>
          <p:nvPr/>
        </p:nvSpPr>
        <p:spPr>
          <a:xfrm>
            <a:off x="6096001" y="1564029"/>
            <a:ext cx="5457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画像は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最良のものを表示）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MEAN REWARD = 0.460</a:t>
            </a:r>
          </a:p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(3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回の学習結果の平均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0.477/0.458/0.444)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56259DA-999E-917B-A928-819EF7AFB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33" y="1564029"/>
            <a:ext cx="4790688" cy="483094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4283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5C41-7AC3-4188-65F8-7B1D9CB5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D3E1CD-E048-1CC1-EC2A-20B2448D0815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601A31-4DA7-CDA0-A80C-B98A5D0BF7FF}"/>
              </a:ext>
            </a:extLst>
          </p:cNvPr>
          <p:cNvSpPr txBox="1"/>
          <p:nvPr/>
        </p:nvSpPr>
        <p:spPr>
          <a:xfrm>
            <a:off x="0" y="24769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２．データセットの品質チェック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C1C0AF-D141-DD2D-DCC7-876F8C01A604}"/>
              </a:ext>
            </a:extLst>
          </p:cNvPr>
          <p:cNvSpPr txBox="1"/>
          <p:nvPr/>
        </p:nvSpPr>
        <p:spPr>
          <a:xfrm>
            <a:off x="849923" y="463025"/>
            <a:ext cx="11341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ケース７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MAX ACTION STATE DISTANCE = 120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より大きなものをを除外したもの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6861A7C-F9A1-BF45-C006-781A8D6B7F87}"/>
              </a:ext>
            </a:extLst>
          </p:cNvPr>
          <p:cNvSpPr txBox="1"/>
          <p:nvPr/>
        </p:nvSpPr>
        <p:spPr>
          <a:xfrm>
            <a:off x="6096001" y="1564029"/>
            <a:ext cx="5457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画像は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最良のものを表示）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MEAN REWARD = 0.443</a:t>
            </a:r>
          </a:p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(3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回の学習結果の平均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0.486/0.451/0.392)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B5BEE93-8004-2DFF-6D58-9D225E4F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97" y="1564029"/>
            <a:ext cx="4800753" cy="483094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6629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317A7-06AB-7CE8-F6F2-47E20542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465055-BE17-1B22-A1AC-EF278FFB387E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2B2CC9-CC0D-C13B-9A6F-2825572261A4}"/>
              </a:ext>
            </a:extLst>
          </p:cNvPr>
          <p:cNvSpPr txBox="1"/>
          <p:nvPr/>
        </p:nvSpPr>
        <p:spPr>
          <a:xfrm>
            <a:off x="0" y="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２．データセットの品質チェック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" name="rollout-lerobot-act(case8)">
            <a:hlinkClick r:id="" action="ppaction://media"/>
            <a:extLst>
              <a:ext uri="{FF2B5EF4-FFF2-40B4-BE49-F238E27FC236}">
                <a16:creationId xmlns:a16="http://schemas.microsoft.com/office/drawing/2014/main" id="{6826398D-A1C4-64A8-863F-D98F9315F1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9923" y="1587261"/>
            <a:ext cx="4744528" cy="474452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0D93C7-5E43-6285-9340-F5798C83F377}"/>
              </a:ext>
            </a:extLst>
          </p:cNvPr>
          <p:cNvSpPr txBox="1"/>
          <p:nvPr/>
        </p:nvSpPr>
        <p:spPr>
          <a:xfrm>
            <a:off x="849923" y="463025"/>
            <a:ext cx="11341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ケース８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MAX ACTION STATE DISTANCE = 120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より大きなものを除外したもの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2421D9-342B-A4D6-DB9C-A2F2693CB03C}"/>
              </a:ext>
            </a:extLst>
          </p:cNvPr>
          <p:cNvSpPr txBox="1"/>
          <p:nvPr/>
        </p:nvSpPr>
        <p:spPr>
          <a:xfrm>
            <a:off x="6096001" y="1564029"/>
            <a:ext cx="5457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動画は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最良のものを表示）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MEAN REWARD = 0.538</a:t>
            </a:r>
          </a:p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(3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回の学習結果の平均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0.569/0.592/0.452)</a:t>
            </a:r>
          </a:p>
        </p:txBody>
      </p:sp>
    </p:spTree>
    <p:extLst>
      <p:ext uri="{BB962C8B-B14F-4D97-AF65-F5344CB8AC3E}">
        <p14:creationId xmlns:p14="http://schemas.microsoft.com/office/powerpoint/2010/main" val="399889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0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0805-5660-E139-62F3-273A0E95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56D3CDA-1507-793F-DEB1-6B647A4711A5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３．各対策の相乗効果のチェック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60A1A0-CFED-31AC-47B2-CE18B068E1E7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915941-3F76-6947-806D-42537D3E0089}"/>
              </a:ext>
            </a:extLst>
          </p:cNvPr>
          <p:cNvSpPr txBox="1"/>
          <p:nvPr/>
        </p:nvSpPr>
        <p:spPr>
          <a:xfrm>
            <a:off x="1020826" y="608002"/>
            <a:ext cx="11171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各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Dataset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の品質チェックの相乗効果、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Detaset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の品質チェックと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数の増加の相乗効果が無いかを確認した。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0807F5-00D4-E395-454B-A46026173D8F}"/>
              </a:ext>
            </a:extLst>
          </p:cNvPr>
          <p:cNvSpPr txBox="1"/>
          <p:nvPr/>
        </p:nvSpPr>
        <p:spPr>
          <a:xfrm>
            <a:off x="1020826" y="1602046"/>
            <a:ext cx="582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各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Dataset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の品質チェックの相乗効果として、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5617EF9-577A-BE6D-69B1-F8F06BDFD51B}"/>
              </a:ext>
            </a:extLst>
          </p:cNvPr>
          <p:cNvSpPr txBox="1"/>
          <p:nvPr/>
        </p:nvSpPr>
        <p:spPr>
          <a:xfrm>
            <a:off x="1561600" y="2257363"/>
            <a:ext cx="7956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①前項で結果の向上効果のあった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つの組み合わせ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32A7622-FCEE-AE0F-90D3-8126D0A609CA}"/>
              </a:ext>
            </a:extLst>
          </p:cNvPr>
          <p:cNvSpPr txBox="1"/>
          <p:nvPr/>
        </p:nvSpPr>
        <p:spPr>
          <a:xfrm>
            <a:off x="1561600" y="2996028"/>
            <a:ext cx="9991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Dataset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で最も向上効果のあったものと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数を増やすことの組み合わせ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71C30D-7A58-E37A-A02A-3FD1C4AD5D1E}"/>
              </a:ext>
            </a:extLst>
          </p:cNvPr>
          <p:cNvSpPr txBox="1"/>
          <p:nvPr/>
        </p:nvSpPr>
        <p:spPr>
          <a:xfrm>
            <a:off x="9196348" y="5788333"/>
            <a:ext cx="2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つを検証した。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652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64422-ECB3-3384-8713-2731670D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4D57662-9CCF-80F0-549F-EAE432C5E6CF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9C6C19-129F-D95F-2501-EF6070579C9C}"/>
              </a:ext>
            </a:extLst>
          </p:cNvPr>
          <p:cNvSpPr txBox="1"/>
          <p:nvPr/>
        </p:nvSpPr>
        <p:spPr>
          <a:xfrm>
            <a:off x="73098" y="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３．各対策の相乗効果のチェック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DFC56A-F827-1375-9040-78A4F40A89E7}"/>
              </a:ext>
            </a:extLst>
          </p:cNvPr>
          <p:cNvSpPr txBox="1"/>
          <p:nvPr/>
        </p:nvSpPr>
        <p:spPr>
          <a:xfrm>
            <a:off x="849923" y="463025"/>
            <a:ext cx="113411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ケース９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MIN EPISODE LENGTH = 50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以下を除外したもの　および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MAX ACTION STATE DISTANCE = 120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より大きなものを除外したもの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B76864-F39B-ED28-0835-3F7D1D933F2D}"/>
              </a:ext>
            </a:extLst>
          </p:cNvPr>
          <p:cNvSpPr txBox="1"/>
          <p:nvPr/>
        </p:nvSpPr>
        <p:spPr>
          <a:xfrm>
            <a:off x="6096000" y="2165031"/>
            <a:ext cx="5457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画像は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最良のものを表示）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MEAN REWARD = 0.435</a:t>
            </a:r>
          </a:p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(3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回の学習結果の平均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0.430/0.516/0.359)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CECDF6F-5DCD-BA50-FFA4-FB568767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67" y="1954382"/>
            <a:ext cx="4728358" cy="473895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1442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14E8EC-8305-07A2-2FA6-42ACA5C8CDF3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３．各対策の相乗効果のチェック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9DC1E6-6B23-B5C7-EEB2-374B08E01B32}"/>
              </a:ext>
            </a:extLst>
          </p:cNvPr>
          <p:cNvSpPr txBox="1"/>
          <p:nvPr/>
        </p:nvSpPr>
        <p:spPr>
          <a:xfrm>
            <a:off x="849923" y="463025"/>
            <a:ext cx="113411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ケース１０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MAX ACTION STATE DISTANCE = 120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より大きなものを除外し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としたもの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D52F4C-4793-DFB9-99C9-4B0171A84AB1}"/>
              </a:ext>
            </a:extLst>
          </p:cNvPr>
          <p:cNvSpPr txBox="1"/>
          <p:nvPr/>
        </p:nvSpPr>
        <p:spPr>
          <a:xfrm>
            <a:off x="6096000" y="1957388"/>
            <a:ext cx="5457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学習結果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画像は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最良のものを表示）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MEAN REWARD = 0.440</a:t>
            </a:r>
          </a:p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(3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回の学習結果の平均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0.445/0.377/0.497)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AEFBB82-8AE8-12E0-B303-98C63D5AE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60" y="1957387"/>
            <a:ext cx="4387388" cy="443758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7928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AAD0E-74FB-1637-605C-6547FED6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CCAAC4-DBE2-2F95-A8AF-63FCAB082F73}"/>
              </a:ext>
            </a:extLst>
          </p:cNvPr>
          <p:cNvSpPr txBox="1"/>
          <p:nvPr/>
        </p:nvSpPr>
        <p:spPr>
          <a:xfrm>
            <a:off x="132364" y="130630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３．各対策の相乗効果のチェック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7E8AA8-7E4A-3E65-8ACB-844794CD034D}"/>
              </a:ext>
            </a:extLst>
          </p:cNvPr>
          <p:cNvSpPr txBox="1"/>
          <p:nvPr/>
        </p:nvSpPr>
        <p:spPr>
          <a:xfrm>
            <a:off x="7684477" y="2672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B2D021-D793-D96A-4B9A-331460D99AA9}"/>
              </a:ext>
            </a:extLst>
          </p:cNvPr>
          <p:cNvSpPr txBox="1"/>
          <p:nvPr/>
        </p:nvSpPr>
        <p:spPr>
          <a:xfrm>
            <a:off x="1020826" y="653850"/>
            <a:ext cx="111711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各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Dataset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の品質チェックの相乗効果として、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前ケース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で結果の向上効果のあった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つの組み合わせでは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Baseline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より低下し、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また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Dataset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で最も向上効果のあったものと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数を増やすことの組み合わせも相乗効果はなく、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Baseline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より低下するため相乗効果は期待できないと思われます。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8DA5C12-8BAD-7555-54ED-7B3CE49EC9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-1029"/>
          <a:stretch>
            <a:fillRect/>
          </a:stretch>
        </p:blipFill>
        <p:spPr>
          <a:xfrm>
            <a:off x="1158417" y="2507288"/>
            <a:ext cx="10565175" cy="339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5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63BBE6-5A13-C46E-3E39-41B65BAC632C}"/>
              </a:ext>
            </a:extLst>
          </p:cNvPr>
          <p:cNvSpPr txBox="1"/>
          <p:nvPr/>
        </p:nvSpPr>
        <p:spPr>
          <a:xfrm>
            <a:off x="178606" y="123092"/>
            <a:ext cx="9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2C0085-1779-652B-8A90-00BAA8E92400}"/>
              </a:ext>
            </a:extLst>
          </p:cNvPr>
          <p:cNvSpPr txBox="1"/>
          <p:nvPr/>
        </p:nvSpPr>
        <p:spPr>
          <a:xfrm>
            <a:off x="606311" y="646312"/>
            <a:ext cx="113411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非常に簡易な検討であり、プログラム的にも粗雑ではあるが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以下の傾向があり、着手する方向性としては使えるのではと考えます。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748BA1-3584-B40F-760E-C0792E4F8E41}"/>
              </a:ext>
            </a:extLst>
          </p:cNvPr>
          <p:cNvSpPr txBox="1"/>
          <p:nvPr/>
        </p:nvSpPr>
        <p:spPr>
          <a:xfrm>
            <a:off x="850821" y="1649037"/>
            <a:ext cx="11341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１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学習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数の増加は結果の向上に寄与するが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Baseline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である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から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へ倍に変更した場合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0.47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0.686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と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1.46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倍変化するが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さらに倍の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120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とした場合　　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0.686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0.695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と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1.01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倍にしか増加せず、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学習時間を考慮すると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効果的な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epoch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ぐらいと考えられる。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BD1013-8924-AA0C-ED5F-324118DB52D9}"/>
              </a:ext>
            </a:extLst>
          </p:cNvPr>
          <p:cNvSpPr txBox="1"/>
          <p:nvPr/>
        </p:nvSpPr>
        <p:spPr>
          <a:xfrm>
            <a:off x="850821" y="3759757"/>
            <a:ext cx="11341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．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Dataset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の品質チェックの目安としては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MAX ACTION STATE DISTANCE</a:t>
            </a: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    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STATIONARY RATIO</a:t>
            </a:r>
          </a:p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    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つが有望であり、この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つを事前チェックに使い、さらに目視チェックする方向が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 考えられる。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6C5C1A5-F9CF-815D-4185-B2CAB227A86B}"/>
              </a:ext>
            </a:extLst>
          </p:cNvPr>
          <p:cNvSpPr txBox="1"/>
          <p:nvPr/>
        </p:nvSpPr>
        <p:spPr>
          <a:xfrm>
            <a:off x="850821" y="5888504"/>
            <a:ext cx="113411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３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. 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ただし相乗効果は見られず、単体の効果も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max reward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で現状で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割弱であり、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 　さらなる向上には別の方法の検討が必要と考える。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27CD03-965D-0DC3-3212-E8136072CE7D}"/>
              </a:ext>
            </a:extLst>
          </p:cNvPr>
          <p:cNvSpPr txBox="1"/>
          <p:nvPr/>
        </p:nvSpPr>
        <p:spPr>
          <a:xfrm>
            <a:off x="11002628" y="6396335"/>
            <a:ext cx="1189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おわり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721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1316</Words>
  <Application>Microsoft Office PowerPoint</Application>
  <PresentationFormat>ワイド画面</PresentationFormat>
  <Paragraphs>152</Paragraphs>
  <Slides>20</Slides>
  <Notes>1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Kohei Fujita</dc:creator>
  <cp:lastModifiedBy>Kohei Fujita</cp:lastModifiedBy>
  <cp:revision>7</cp:revision>
  <dcterms:created xsi:type="dcterms:W3CDTF">2026-10-26T10:14:05Z</dcterms:created>
  <dcterms:modified xsi:type="dcterms:W3CDTF">2026-10-31T04:32:22Z</dcterms:modified>
</cp:coreProperties>
</file>